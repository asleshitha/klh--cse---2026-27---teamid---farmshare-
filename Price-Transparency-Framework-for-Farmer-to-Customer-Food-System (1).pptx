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61" r:id="rId5"/>
    <p:sldId id="262" r:id="rId6"/>
    <p:sldId id="263" r:id="rId7"/>
    <p:sldId id="259" r:id="rId8"/>
    <p:sldId id="260" r:id="rId9"/>
  </p:sldIdLst>
  <p:sldSz cx="9144000" cy="5143500" type="screen16x9"/>
  <p:notesSz cx="5143500" cy="9144000"/>
  <p:embeddedFontLst>
    <p:embeddedFont>
      <p:font typeface="Nobile" panose="02010600030101010101" charset="-122"/>
      <p:regular r:id="rId11"/>
    </p:embeddedFont>
    <p:embeddedFont>
      <p:font typeface="Corbel" panose="020B0503020204020204" pitchFamily="34" charset="0"/>
      <p:regular r:id="rId12"/>
      <p:bold r:id="rId13"/>
      <p:italic r:id="rId14"/>
      <p:boldItalic r:id="rId15"/>
    </p:embeddedFont>
    <p:embeddedFont>
      <p:font typeface="Corben" panose="020B0604020202020204" charset="0"/>
      <p:regular r:id="rId16"/>
    </p:embeddedFont>
    <p:embeddedFont>
      <p:font typeface="Nobile Bold"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F"/>
    <a:srgbClr val="4F4E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0A6F7A-7C48-42C8-9B55-479740AB4023}" v="12" dt="2026-08-08T04:03:23.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microsoft.com/office/2015/10/relationships/revisionInfo" Target="revisionInfo.xml"/><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gaddempally@outlook.com" userId="06875100ddf83a31" providerId="LiveId" clId="{C3048804-7377-4EB7-B296-09A0EA42371C}"/>
    <pc:docChg chg="addSld modSld">
      <pc:chgData name="poojitha.gaddempally@outlook.com" userId="06875100ddf83a31" providerId="LiveId" clId="{C3048804-7377-4EB7-B296-09A0EA42371C}" dt="2026-08-27T03:54:57.028" v="73" actId="1036"/>
      <pc:docMkLst>
        <pc:docMk/>
      </pc:docMkLst>
      <pc:sldChg chg="modSp mod">
        <pc:chgData name="poojitha.gaddempally@outlook.com" userId="06875100ddf83a31" providerId="LiveId" clId="{C3048804-7377-4EB7-B296-09A0EA42371C}" dt="2026-08-27T03:54:57.028" v="73" actId="1036"/>
        <pc:sldMkLst>
          <pc:docMk/>
          <pc:sldMk cId="0" sldId="256"/>
        </pc:sldMkLst>
        <pc:picChg chg="mod">
          <ac:chgData name="poojitha.gaddempally@outlook.com" userId="06875100ddf83a31" providerId="LiveId" clId="{C3048804-7377-4EB7-B296-09A0EA42371C}" dt="2026-08-27T03:54:57.028" v="73" actId="1036"/>
          <ac:picMkLst>
            <pc:docMk/>
            <pc:sldMk cId="0" sldId="256"/>
            <ac:picMk id="2" creationId="{00000000-0000-0000-0000-000000000000}"/>
          </ac:picMkLst>
        </pc:picChg>
      </pc:sldChg>
      <pc:sldChg chg="modSp mod">
        <pc:chgData name="poojitha.gaddempally@outlook.com" userId="06875100ddf83a31" providerId="LiveId" clId="{C3048804-7377-4EB7-B296-09A0EA42371C}" dt="2026-08-08T03:59:04.764" v="32" actId="207"/>
        <pc:sldMkLst>
          <pc:docMk/>
          <pc:sldMk cId="0" sldId="258"/>
        </pc:sldMkLst>
        <pc:spChg chg="mod">
          <ac:chgData name="poojitha.gaddempally@outlook.com" userId="06875100ddf83a31" providerId="LiveId" clId="{C3048804-7377-4EB7-B296-09A0EA42371C}" dt="2026-08-08T03:59:04.764" v="32" actId="207"/>
          <ac:spMkLst>
            <pc:docMk/>
            <pc:sldMk cId="0" sldId="258"/>
            <ac:spMk id="3" creationId="{00000000-0000-0000-0000-000000000000}"/>
          </ac:spMkLst>
        </pc:spChg>
      </pc:sldChg>
      <pc:sldChg chg="addSp modSp new mod">
        <pc:chgData name="poojitha.gaddempally@outlook.com" userId="06875100ddf83a31" providerId="LiveId" clId="{C3048804-7377-4EB7-B296-09A0EA42371C}" dt="2026-08-08T03:58:53.493" v="31" actId="207"/>
        <pc:sldMkLst>
          <pc:docMk/>
          <pc:sldMk cId="986901386" sldId="261"/>
        </pc:sldMkLst>
        <pc:spChg chg="add mod">
          <ac:chgData name="poojitha.gaddempally@outlook.com" userId="06875100ddf83a31" providerId="LiveId" clId="{C3048804-7377-4EB7-B296-09A0EA42371C}" dt="2026-08-08T03:56:52.460" v="24" actId="255"/>
          <ac:spMkLst>
            <pc:docMk/>
            <pc:sldMk cId="986901386" sldId="261"/>
            <ac:spMk id="2" creationId="{08ADF639-F51C-F2BC-5D36-C78091B10A20}"/>
          </ac:spMkLst>
        </pc:spChg>
        <pc:spChg chg="add mod">
          <ac:chgData name="poojitha.gaddempally@outlook.com" userId="06875100ddf83a31" providerId="LiveId" clId="{C3048804-7377-4EB7-B296-09A0EA42371C}" dt="2026-08-08T03:58:53.493" v="31" actId="207"/>
          <ac:spMkLst>
            <pc:docMk/>
            <pc:sldMk cId="986901386" sldId="261"/>
            <ac:spMk id="3" creationId="{F3AD0B14-CF05-F770-4A96-5877FA5E6377}"/>
          </ac:spMkLst>
        </pc:spChg>
        <pc:spChg chg="add mod">
          <ac:chgData name="poojitha.gaddempally@outlook.com" userId="06875100ddf83a31" providerId="LiveId" clId="{C3048804-7377-4EB7-B296-09A0EA42371C}" dt="2026-08-08T03:55:59.883" v="22" actId="207"/>
          <ac:spMkLst>
            <pc:docMk/>
            <pc:sldMk cId="986901386" sldId="261"/>
            <ac:spMk id="4" creationId="{5FF5B341-6FD0-ACB6-D30E-31216668B15A}"/>
          </ac:spMkLst>
        </pc:spChg>
      </pc:sldChg>
      <pc:sldChg chg="addSp modSp new mod">
        <pc:chgData name="poojitha.gaddempally@outlook.com" userId="06875100ddf83a31" providerId="LiveId" clId="{C3048804-7377-4EB7-B296-09A0EA42371C}" dt="2026-08-08T04:01:38.655" v="57" actId="207"/>
        <pc:sldMkLst>
          <pc:docMk/>
          <pc:sldMk cId="4242669902" sldId="262"/>
        </pc:sldMkLst>
        <pc:spChg chg="add mod">
          <ac:chgData name="poojitha.gaddempally@outlook.com" userId="06875100ddf83a31" providerId="LiveId" clId="{C3048804-7377-4EB7-B296-09A0EA42371C}" dt="2026-08-08T04:00:44.101" v="50" actId="1076"/>
          <ac:spMkLst>
            <pc:docMk/>
            <pc:sldMk cId="4242669902" sldId="262"/>
            <ac:spMk id="2" creationId="{83BF962F-842E-0474-636E-ACD58B14C3E3}"/>
          </ac:spMkLst>
        </pc:spChg>
        <pc:spChg chg="add mod">
          <ac:chgData name="poojitha.gaddempally@outlook.com" userId="06875100ddf83a31" providerId="LiveId" clId="{C3048804-7377-4EB7-B296-09A0EA42371C}" dt="2026-08-08T04:01:11.335" v="53" actId="1076"/>
          <ac:spMkLst>
            <pc:docMk/>
            <pc:sldMk cId="4242669902" sldId="262"/>
            <ac:spMk id="3" creationId="{E46A5EAB-3773-01D4-6D90-FCEA15C538F2}"/>
          </ac:spMkLst>
        </pc:spChg>
        <pc:spChg chg="add mod">
          <ac:chgData name="poojitha.gaddempally@outlook.com" userId="06875100ddf83a31" providerId="LiveId" clId="{C3048804-7377-4EB7-B296-09A0EA42371C}" dt="2026-08-08T04:01:38.655" v="57" actId="207"/>
          <ac:spMkLst>
            <pc:docMk/>
            <pc:sldMk cId="4242669902" sldId="262"/>
            <ac:spMk id="4" creationId="{9492019C-9704-19D3-40B4-0C77F5F6B312}"/>
          </ac:spMkLst>
        </pc:spChg>
      </pc:sldChg>
      <pc:sldChg chg="addSp modSp new mod">
        <pc:chgData name="poojitha.gaddempally@outlook.com" userId="06875100ddf83a31" providerId="LiveId" clId="{C3048804-7377-4EB7-B296-09A0EA42371C}" dt="2026-08-08T04:04:28.578" v="71" actId="207"/>
        <pc:sldMkLst>
          <pc:docMk/>
          <pc:sldMk cId="1491025178" sldId="263"/>
        </pc:sldMkLst>
        <pc:spChg chg="add mod">
          <ac:chgData name="poojitha.gaddempally@outlook.com" userId="06875100ddf83a31" providerId="LiveId" clId="{C3048804-7377-4EB7-B296-09A0EA42371C}" dt="2026-08-08T04:04:07.941" v="68" actId="1076"/>
          <ac:spMkLst>
            <pc:docMk/>
            <pc:sldMk cId="1491025178" sldId="263"/>
            <ac:spMk id="2" creationId="{175C9266-88FD-09EF-6A92-C2F76C155B5B}"/>
          </ac:spMkLst>
        </pc:spChg>
        <pc:spChg chg="add mod">
          <ac:chgData name="poojitha.gaddempally@outlook.com" userId="06875100ddf83a31" providerId="LiveId" clId="{C3048804-7377-4EB7-B296-09A0EA42371C}" dt="2026-08-08T04:04:02.501" v="67" actId="1076"/>
          <ac:spMkLst>
            <pc:docMk/>
            <pc:sldMk cId="1491025178" sldId="263"/>
            <ac:spMk id="3" creationId="{BE5963D6-6355-B926-9D70-A9AA7D02652A}"/>
          </ac:spMkLst>
        </pc:spChg>
        <pc:spChg chg="add mod">
          <ac:chgData name="poojitha.gaddempally@outlook.com" userId="06875100ddf83a31" providerId="LiveId" clId="{C3048804-7377-4EB7-B296-09A0EA42371C}" dt="2026-08-08T04:04:28.578" v="71" actId="207"/>
          <ac:spMkLst>
            <pc:docMk/>
            <pc:sldMk cId="1491025178" sldId="263"/>
            <ac:spMk id="4" creationId="{414D1B11-1A02-8140-7AE1-F9FC5D9DCDD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252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14068"/>
            <a:ext cx="3429000" cy="5143500"/>
          </a:xfrm>
          <a:prstGeom prst="rect">
            <a:avLst/>
          </a:prstGeom>
        </p:spPr>
      </p:pic>
      <p:sp>
        <p:nvSpPr>
          <p:cNvPr id="3" name="Text 0"/>
          <p:cNvSpPr/>
          <p:nvPr/>
        </p:nvSpPr>
        <p:spPr>
          <a:xfrm>
            <a:off x="496119" y="1574155"/>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1B1B27"/>
                </a:solidFill>
                <a:latin typeface="Corben" pitchFamily="34" charset="0"/>
                <a:ea typeface="Corben" pitchFamily="34" charset="-122"/>
                <a:cs typeface="Corben" pitchFamily="34" charset="-120"/>
              </a:rPr>
              <a:t>Price Transparency Framework for Farmer-to-Customer Food System</a:t>
            </a:r>
            <a:endParaRPr lang="en-US" sz="2750" dirty="0"/>
          </a:p>
        </p:txBody>
      </p:sp>
      <p:sp>
        <p:nvSpPr>
          <p:cNvPr id="4" name="Text 1"/>
          <p:cNvSpPr/>
          <p:nvPr/>
        </p:nvSpPr>
        <p:spPr>
          <a:xfrm>
            <a:off x="496119" y="3115717"/>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04155"/>
                </a:solidFill>
                <a:latin typeface="Nobile" pitchFamily="34" charset="0"/>
                <a:ea typeface="Nobile" pitchFamily="34" charset="-122"/>
                <a:cs typeface="Nobile" pitchFamily="34" charset="-120"/>
              </a:rPr>
              <a:t>A framework for fair, clear, and trustworthy direct farm-to-customer food delivery.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58292"/>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1B1B27"/>
                </a:solidFill>
                <a:latin typeface="Corben" pitchFamily="34" charset="0"/>
                <a:ea typeface="Corben" pitchFamily="34" charset="-122"/>
                <a:cs typeface="Corben" pitchFamily="34" charset="-120"/>
              </a:rPr>
              <a:t>Problem Statement</a:t>
            </a:r>
            <a:endParaRPr lang="en-US" sz="2750" dirty="0"/>
          </a:p>
        </p:txBody>
      </p:sp>
      <p:sp>
        <p:nvSpPr>
          <p:cNvPr id="3" name="Text 1"/>
          <p:cNvSpPr/>
          <p:nvPr/>
        </p:nvSpPr>
        <p:spPr>
          <a:xfrm>
            <a:off x="496119" y="1584796"/>
            <a:ext cx="8151763" cy="1747168"/>
          </a:xfrm>
          <a:prstGeom prst="rect">
            <a:avLst/>
          </a:prstGeom>
          <a:noFill/>
          <a:ln/>
        </p:spPr>
        <p:txBody>
          <a:bodyPr wrap="square" lIns="0" tIns="0" rIns="0" bIns="0" rtlCol="0" anchor="t">
            <a:normAutofit/>
          </a:bodyPr>
          <a:lstStyle/>
          <a:p>
            <a:pPr marL="0" indent="0" algn="l">
              <a:lnSpc>
                <a:spcPct val="133000"/>
              </a:lnSpc>
              <a:spcAft>
                <a:spcPts val="1250"/>
              </a:spcAft>
              <a:buNone/>
            </a:pPr>
            <a:r>
              <a:rPr lang="en-US" sz="1100" dirty="0">
                <a:solidFill>
                  <a:srgbClr val="404155"/>
                </a:solidFill>
                <a:latin typeface="Nobile" pitchFamily="34" charset="0"/>
                <a:ea typeface="Nobile" pitchFamily="34" charset="-122"/>
                <a:cs typeface="Nobile" pitchFamily="34" charset="-120"/>
              </a:rPr>
              <a:t>Farmer-to-customer food delivery platforms are designed to connect farmers directly with customers and help both sides benefit from the sale. However, in many cases, customers have to pay additional charges such as platform fees, packaging costs, delivery charges, and service fees. At the same time, farmers may receive only a small part of the total amount paid by the customer.</a:t>
            </a:r>
            <a:endParaRPr lang="en-US" sz="1100" dirty="0"/>
          </a:p>
          <a:p>
            <a:pPr marL="0" indent="0" algn="l">
              <a:lnSpc>
                <a:spcPct val="133000"/>
              </a:lnSpc>
              <a:buNone/>
            </a:pPr>
            <a:r>
              <a:rPr lang="en-US" sz="1100" dirty="0">
                <a:solidFill>
                  <a:srgbClr val="404155"/>
                </a:solidFill>
                <a:latin typeface="Nobile" pitchFamily="34" charset="0"/>
                <a:ea typeface="Nobile" pitchFamily="34" charset="-122"/>
                <a:cs typeface="Nobile" pitchFamily="34" charset="-120"/>
              </a:rPr>
              <a:t>The main problem is that the </a:t>
            </a:r>
            <a:r>
              <a:rPr lang="en-US" sz="1100" b="1" dirty="0">
                <a:solidFill>
                  <a:srgbClr val="404155"/>
                </a:solidFill>
                <a:latin typeface="Nobile Bold" pitchFamily="34" charset="0"/>
                <a:ea typeface="Nobile Bold" pitchFamily="34" charset="-122"/>
                <a:cs typeface="Nobile Bold" pitchFamily="34" charset="-120"/>
              </a:rPr>
              <a:t>complete flow of money is not clearly shown</a:t>
            </a:r>
            <a:r>
              <a:rPr lang="en-US" sz="1100" dirty="0">
                <a:solidFill>
                  <a:srgbClr val="404155"/>
                </a:solidFill>
                <a:latin typeface="Nobile" pitchFamily="34" charset="0"/>
                <a:ea typeface="Nobile" pitchFamily="34" charset="-122"/>
                <a:cs typeface="Nobile" pitchFamily="34" charset="-120"/>
              </a:rPr>
              <a:t>. Customers may not know how much of their payment actually reaches the farmer, while farmers may not know how the final selling price is divided. This lack of transparency can create confusion and reduce trust in direct farm-to-customer platforms.</a:t>
            </a:r>
            <a:endParaRPr lang="en-US" sz="1100" dirty="0"/>
          </a:p>
        </p:txBody>
      </p:sp>
      <p:sp>
        <p:nvSpPr>
          <p:cNvPr id="4" name="Shape 2"/>
          <p:cNvSpPr/>
          <p:nvPr/>
        </p:nvSpPr>
        <p:spPr>
          <a:xfrm>
            <a:off x="496119" y="3491433"/>
            <a:ext cx="8151763" cy="793775"/>
          </a:xfrm>
          <a:prstGeom prst="roundRect">
            <a:avLst>
              <a:gd name="adj" fmla="val 7501"/>
            </a:avLst>
          </a:prstGeom>
          <a:solidFill>
            <a:srgbClr val="D2D9F9"/>
          </a:solidFill>
          <a:ln/>
        </p:spPr>
      </p:sp>
      <p:pic>
        <p:nvPicPr>
          <p:cNvPr id="5" name="Image 0" descr="preencoded.png"/>
          <p:cNvPicPr>
            <a:picLocks noChangeAspect="1"/>
          </p:cNvPicPr>
          <p:nvPr/>
        </p:nvPicPr>
        <p:blipFill>
          <a:blip r:embed="rId3"/>
          <a:stretch>
            <a:fillRect/>
          </a:stretch>
        </p:blipFill>
        <p:spPr>
          <a:xfrm>
            <a:off x="637877" y="3692203"/>
            <a:ext cx="177180" cy="141759"/>
          </a:xfrm>
          <a:prstGeom prst="rect">
            <a:avLst/>
          </a:prstGeom>
        </p:spPr>
      </p:pic>
      <p:sp>
        <p:nvSpPr>
          <p:cNvPr id="6" name="Text 3"/>
          <p:cNvSpPr/>
          <p:nvPr/>
        </p:nvSpPr>
        <p:spPr>
          <a:xfrm>
            <a:off x="956816" y="3668613"/>
            <a:ext cx="754930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obile" pitchFamily="34" charset="0"/>
                <a:ea typeface="Nobile" pitchFamily="34" charset="-122"/>
                <a:cs typeface="Nobile" pitchFamily="34" charset="-120"/>
              </a:rPr>
              <a:t>There is a need for a simple and transparent pricing system that clearly shows how the customer's payment is distributed among the farmer, delivery, packaging, and platform — building trust for all parties.</a:t>
            </a:r>
            <a:endParaRPr lang="en-US" sz="1100" dirty="0"/>
          </a:p>
        </p:txBody>
      </p:sp>
      <p:sp>
        <p:nvSpPr>
          <p:cNvPr id="7" name="Rectangle 6">
            <a:extLst>
              <a:ext uri="{FF2B5EF4-FFF2-40B4-BE49-F238E27FC236}">
                <a16:creationId xmlns:a16="http://schemas.microsoft.com/office/drawing/2014/main" id="{0F980BBE-E216-D61E-7108-07446544A789}"/>
              </a:ext>
            </a:extLst>
          </p:cNvPr>
          <p:cNvSpPr/>
          <p:nvPr/>
        </p:nvSpPr>
        <p:spPr>
          <a:xfrm>
            <a:off x="7941212" y="4754880"/>
            <a:ext cx="1132450" cy="330591"/>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34429"/>
            <a:ext cx="8151763" cy="436066"/>
          </a:xfrm>
          <a:prstGeom prst="rect">
            <a:avLst/>
          </a:prstGeom>
          <a:noFill/>
          <a:ln/>
        </p:spPr>
        <p:txBody>
          <a:bodyPr wrap="none" lIns="0" tIns="0" rIns="0" bIns="0" rtlCol="0" anchor="t"/>
          <a:lstStyle/>
          <a:p>
            <a:pPr marL="0" indent="0" algn="l">
              <a:lnSpc>
                <a:spcPct val="104000"/>
              </a:lnSpc>
              <a:buNone/>
            </a:pPr>
            <a:r>
              <a:rPr lang="en-US" sz="2700" dirty="0">
                <a:solidFill>
                  <a:srgbClr val="1B1B27"/>
                </a:solidFill>
                <a:latin typeface="Corben" pitchFamily="34" charset="0"/>
                <a:ea typeface="Corben" pitchFamily="34" charset="-122"/>
                <a:cs typeface="Corben" pitchFamily="34" charset="-120"/>
              </a:rPr>
              <a:t>Abstract</a:t>
            </a:r>
            <a:endParaRPr lang="en-US" sz="2700" dirty="0"/>
          </a:p>
        </p:txBody>
      </p:sp>
      <p:sp>
        <p:nvSpPr>
          <p:cNvPr id="3" name="Text 1"/>
          <p:cNvSpPr/>
          <p:nvPr/>
        </p:nvSpPr>
        <p:spPr>
          <a:xfrm>
            <a:off x="496119" y="1145232"/>
            <a:ext cx="8151763" cy="3563838"/>
          </a:xfrm>
          <a:prstGeom prst="rect">
            <a:avLst/>
          </a:prstGeom>
          <a:noFill/>
          <a:ln/>
        </p:spPr>
        <p:txBody>
          <a:bodyPr wrap="square" lIns="0" tIns="0" rIns="0" bIns="0" rtlCol="0" anchor="t">
            <a:normAutofit/>
          </a:bodyPr>
          <a:lstStyle/>
          <a:p>
            <a:pPr marL="0" indent="0" algn="l">
              <a:lnSpc>
                <a:spcPct val="132000"/>
              </a:lnSpc>
              <a:spcAft>
                <a:spcPts val="1200"/>
              </a:spcAft>
              <a:buNone/>
            </a:pPr>
            <a:r>
              <a:rPr lang="en-US" sz="1050" dirty="0">
                <a:solidFill>
                  <a:srgbClr val="404155"/>
                </a:solidFill>
                <a:latin typeface="Nobile" pitchFamily="34" charset="0"/>
                <a:ea typeface="Nobile" pitchFamily="34" charset="-122"/>
                <a:cs typeface="Nobile" pitchFamily="34" charset="-120"/>
              </a:rPr>
              <a:t>The Price Transparency Framework for Farmer-to-Customer Food Systems aims to create a fair, clear, and trustworthy connection between farmers and customers. In traditional food supply systems, several intermediaries may be involved, which can increase the price paid by customers while reducing the amount received by farmers. Even in online delivery platforms, customers may face hidden charges such as delivery, packaging, service, and platform fees.</a:t>
            </a:r>
            <a:endParaRPr lang="en-US" sz="1050" dirty="0"/>
          </a:p>
          <a:p>
            <a:pPr marL="0" indent="0" algn="l">
              <a:lnSpc>
                <a:spcPct val="132000"/>
              </a:lnSpc>
              <a:spcAft>
                <a:spcPts val="1200"/>
              </a:spcAft>
              <a:buNone/>
            </a:pPr>
            <a:r>
              <a:rPr lang="en-US" sz="1050" dirty="0">
                <a:solidFill>
                  <a:srgbClr val="404155"/>
                </a:solidFill>
                <a:latin typeface="Nobile" pitchFamily="34" charset="0"/>
                <a:ea typeface="Nobile" pitchFamily="34" charset="-122"/>
                <a:cs typeface="Nobile" pitchFamily="34" charset="-120"/>
              </a:rPr>
              <a:t>The proposed framework focuses on making the pricing process easy to understand. When a customer purchases a product, the system can clearly show the total price and how it is divided between the farmer, delivery, packaging, and platform charges. This helps custo</a:t>
            </a:r>
            <a:r>
              <a:rPr lang="en-US" sz="1050" dirty="0">
                <a:solidFill>
                  <a:schemeClr val="bg2">
                    <a:lumMod val="50000"/>
                  </a:schemeClr>
                </a:solidFill>
                <a:latin typeface="Nobile" pitchFamily="34" charset="0"/>
                <a:ea typeface="Nobile" pitchFamily="34" charset="-122"/>
                <a:cs typeface="Nobile" pitchFamily="34" charset="-120"/>
              </a:rPr>
              <a:t>me</a:t>
            </a:r>
            <a:r>
              <a:rPr lang="en-US" sz="1050" dirty="0">
                <a:solidFill>
                  <a:srgbClr val="404155"/>
                </a:solidFill>
                <a:latin typeface="Nobile" pitchFamily="34" charset="0"/>
                <a:ea typeface="Nobile" pitchFamily="34" charset="-122"/>
                <a:cs typeface="Nobile" pitchFamily="34" charset="-120"/>
              </a:rPr>
              <a:t>rs understand where their money goes and helps farmers know how much they earn from each sale.</a:t>
            </a:r>
            <a:endParaRPr lang="en-US" sz="1050" dirty="0"/>
          </a:p>
          <a:p>
            <a:pPr marL="0" indent="0" algn="l">
              <a:lnSpc>
                <a:spcPct val="132000"/>
              </a:lnSpc>
              <a:spcAft>
                <a:spcPts val="1200"/>
              </a:spcAft>
              <a:buNone/>
            </a:pPr>
            <a:r>
              <a:rPr lang="en-US" sz="1050" dirty="0">
                <a:solidFill>
                  <a:srgbClr val="404155"/>
                </a:solidFill>
                <a:latin typeface="Nobile" pitchFamily="34" charset="0"/>
                <a:ea typeface="Nobile" pitchFamily="34" charset="-122"/>
                <a:cs typeface="Nobile" pitchFamily="34" charset="-120"/>
              </a:rPr>
              <a:t>The system can also provide digital traceability, allowing customers to know the source of the product and track its delivery. A dashboard can be used to monitor transactions, prices, and farmer earnings. Compliance checks can help identify incorrect or unfair charges, while smart logistics can help reduce delivery costs and food wastage.</a:t>
            </a:r>
            <a:endParaRPr lang="en-US" sz="1050" dirty="0"/>
          </a:p>
          <a:p>
            <a:pPr marL="0" indent="0" algn="l">
              <a:lnSpc>
                <a:spcPct val="132000"/>
              </a:lnSpc>
              <a:buNone/>
            </a:pPr>
            <a:r>
              <a:rPr lang="en-US" sz="1050" dirty="0">
                <a:solidFill>
                  <a:srgbClr val="404155"/>
                </a:solidFill>
                <a:latin typeface="Nobile" pitchFamily="34" charset="0"/>
                <a:ea typeface="Nobile" pitchFamily="34" charset="-122"/>
                <a:cs typeface="Nobile" pitchFamily="34" charset="-120"/>
              </a:rPr>
              <a:t>Overall, the framework aims to improve farmer income, provide customers with clear pricing information, and build trust through transparency and fair value sharing. It can support a more sustainable and efficient farmer-to-customer food delivery system where both farmers and consumers benefit.</a:t>
            </a:r>
            <a:endParaRPr lang="en-US" sz="1050" dirty="0"/>
          </a:p>
        </p:txBody>
      </p:sp>
      <p:sp>
        <p:nvSpPr>
          <p:cNvPr id="4" name="Rectangle 3">
            <a:extLst>
              <a:ext uri="{FF2B5EF4-FFF2-40B4-BE49-F238E27FC236}">
                <a16:creationId xmlns:a16="http://schemas.microsoft.com/office/drawing/2014/main" id="{4DD6D748-0C15-FEBC-6B44-D5DF32B654A5}"/>
              </a:ext>
            </a:extLst>
          </p:cNvPr>
          <p:cNvSpPr/>
          <p:nvPr/>
        </p:nvSpPr>
        <p:spPr>
          <a:xfrm>
            <a:off x="7913077" y="4709070"/>
            <a:ext cx="1181686" cy="434430"/>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DF639-F51C-F2BC-5D36-C78091B10A20}"/>
              </a:ext>
            </a:extLst>
          </p:cNvPr>
          <p:cNvSpPr txBox="1"/>
          <p:nvPr/>
        </p:nvSpPr>
        <p:spPr>
          <a:xfrm>
            <a:off x="555674" y="654259"/>
            <a:ext cx="6520375" cy="461665"/>
          </a:xfrm>
          <a:prstGeom prst="rect">
            <a:avLst/>
          </a:prstGeom>
          <a:noFill/>
        </p:spPr>
        <p:txBody>
          <a:bodyPr wrap="square" rtlCol="0">
            <a:spAutoFit/>
          </a:bodyPr>
          <a:lstStyle/>
          <a:p>
            <a:r>
              <a:rPr lang="en-US" sz="2400" dirty="0">
                <a:latin typeface="Corben" panose="020B0604020202020204" charset="0"/>
              </a:rPr>
              <a:t>Existing Farmer-to-Customer Model</a:t>
            </a:r>
          </a:p>
        </p:txBody>
      </p:sp>
      <p:sp>
        <p:nvSpPr>
          <p:cNvPr id="3" name="TextBox 2">
            <a:extLst>
              <a:ext uri="{FF2B5EF4-FFF2-40B4-BE49-F238E27FC236}">
                <a16:creationId xmlns:a16="http://schemas.microsoft.com/office/drawing/2014/main" id="{F3AD0B14-CF05-F770-4A96-5877FA5E6377}"/>
              </a:ext>
            </a:extLst>
          </p:cNvPr>
          <p:cNvSpPr txBox="1"/>
          <p:nvPr/>
        </p:nvSpPr>
        <p:spPr>
          <a:xfrm>
            <a:off x="555674" y="1329397"/>
            <a:ext cx="7920111" cy="2554545"/>
          </a:xfrm>
          <a:prstGeom prst="rect">
            <a:avLst/>
          </a:prstGeom>
          <a:noFill/>
        </p:spPr>
        <p:txBody>
          <a:bodyPr wrap="square" rtlCol="0">
            <a:spAutoFit/>
          </a:bodyPr>
          <a:lstStyle/>
          <a:p>
            <a:r>
              <a:rPr lang="en-US" sz="1600" dirty="0">
                <a:solidFill>
                  <a:schemeClr val="bg2">
                    <a:lumMod val="50000"/>
                  </a:schemeClr>
                </a:solidFill>
                <a:latin typeface="Nobile" panose="020B0604020202020204" charset="0"/>
              </a:rPr>
              <a:t>Existing farmer-to-customer food delivery models mainly focus on connecting farmers directly with customers through online marketplaces or delivery platforms. Farmers list their products, customers place orders, and the platform manages payments, packaging, delivery, and other services. Traditional food supply chains also involve intermediaries such as wholesalers, distributors, and retailers before products reach customers. Even in direct-to-customer platforms, the customer's payment may be divided among the farmer, platform, delivery, packaging, and service charges. Our existing framework identifies the need to make this complete flow easier to understand for both farmers and customers.</a:t>
            </a:r>
          </a:p>
        </p:txBody>
      </p:sp>
      <p:sp>
        <p:nvSpPr>
          <p:cNvPr id="4" name="Rectangle 3">
            <a:extLst>
              <a:ext uri="{FF2B5EF4-FFF2-40B4-BE49-F238E27FC236}">
                <a16:creationId xmlns:a16="http://schemas.microsoft.com/office/drawing/2014/main" id="{5FF5B341-6FD0-ACB6-D30E-31216668B15A}"/>
              </a:ext>
            </a:extLst>
          </p:cNvPr>
          <p:cNvSpPr/>
          <p:nvPr/>
        </p:nvSpPr>
        <p:spPr>
          <a:xfrm>
            <a:off x="8011551" y="4768948"/>
            <a:ext cx="1083212" cy="374552"/>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6901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BF962F-842E-0474-636E-ACD58B14C3E3}"/>
              </a:ext>
            </a:extLst>
          </p:cNvPr>
          <p:cNvSpPr txBox="1"/>
          <p:nvPr/>
        </p:nvSpPr>
        <p:spPr>
          <a:xfrm>
            <a:off x="562708" y="603626"/>
            <a:ext cx="2841674" cy="461665"/>
          </a:xfrm>
          <a:prstGeom prst="rect">
            <a:avLst/>
          </a:prstGeom>
          <a:noFill/>
        </p:spPr>
        <p:txBody>
          <a:bodyPr wrap="square" rtlCol="0">
            <a:spAutoFit/>
          </a:bodyPr>
          <a:lstStyle/>
          <a:p>
            <a:r>
              <a:rPr lang="en-US" sz="2400" dirty="0">
                <a:latin typeface="Corbel" panose="020B0503020204020204" pitchFamily="34" charset="0"/>
              </a:rPr>
              <a:t>Drawbacks</a:t>
            </a:r>
          </a:p>
        </p:txBody>
      </p:sp>
      <p:sp>
        <p:nvSpPr>
          <p:cNvPr id="3" name="TextBox 2">
            <a:extLst>
              <a:ext uri="{FF2B5EF4-FFF2-40B4-BE49-F238E27FC236}">
                <a16:creationId xmlns:a16="http://schemas.microsoft.com/office/drawing/2014/main" id="{E46A5EAB-3773-01D4-6D90-FCEA15C538F2}"/>
              </a:ext>
            </a:extLst>
          </p:cNvPr>
          <p:cNvSpPr txBox="1"/>
          <p:nvPr/>
        </p:nvSpPr>
        <p:spPr>
          <a:xfrm>
            <a:off x="562708" y="1328325"/>
            <a:ext cx="8117058" cy="2308324"/>
          </a:xfrm>
          <a:prstGeom prst="rect">
            <a:avLst/>
          </a:prstGeom>
          <a:noFill/>
        </p:spPr>
        <p:txBody>
          <a:bodyPr wrap="square" rtlCol="0">
            <a:spAutoFit/>
          </a:bodyPr>
          <a:lstStyle/>
          <a:p>
            <a:r>
              <a:rPr lang="en-US" sz="1600" dirty="0">
                <a:latin typeface="Nobile" panose="020B0604020202020204" charset="0"/>
              </a:rPr>
              <a:t>The major drawback is the lack of complete price and payment transparency. Customers may see the final product price but may not clearly know how much of their payment actually reaches the farmer or how much is spent on delivery, packaging, platform, and service charges. Similarly, farmers may not have a clear view of how their product's final selling price is calculated. Traditional supply chains can also involve multiple intermediaries, which may increase the customer's price while reducing the farmer's share. These issues can create confusion, reduce trust, and make it difficult for both farmers and customers to determine whether the transaction is fair.</a:t>
            </a:r>
          </a:p>
        </p:txBody>
      </p:sp>
      <p:sp>
        <p:nvSpPr>
          <p:cNvPr id="4" name="Rectangle 3">
            <a:extLst>
              <a:ext uri="{FF2B5EF4-FFF2-40B4-BE49-F238E27FC236}">
                <a16:creationId xmlns:a16="http://schemas.microsoft.com/office/drawing/2014/main" id="{9492019C-9704-19D3-40B4-0C77F5F6B312}"/>
              </a:ext>
            </a:extLst>
          </p:cNvPr>
          <p:cNvSpPr/>
          <p:nvPr/>
        </p:nvSpPr>
        <p:spPr>
          <a:xfrm>
            <a:off x="8004517" y="4783015"/>
            <a:ext cx="1139483" cy="302456"/>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2669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5C9266-88FD-09EF-6A92-C2F76C155B5B}"/>
              </a:ext>
            </a:extLst>
          </p:cNvPr>
          <p:cNvSpPr txBox="1"/>
          <p:nvPr/>
        </p:nvSpPr>
        <p:spPr>
          <a:xfrm>
            <a:off x="664698" y="541605"/>
            <a:ext cx="3805311" cy="400110"/>
          </a:xfrm>
          <a:prstGeom prst="rect">
            <a:avLst/>
          </a:prstGeom>
          <a:noFill/>
        </p:spPr>
        <p:txBody>
          <a:bodyPr wrap="square" rtlCol="0">
            <a:spAutoFit/>
          </a:bodyPr>
          <a:lstStyle/>
          <a:p>
            <a:r>
              <a:rPr lang="en-US" sz="2000" dirty="0">
                <a:latin typeface="Corben" panose="020B0604020202020204" charset="0"/>
              </a:rPr>
              <a:t>Proposed Improved Model</a:t>
            </a:r>
          </a:p>
        </p:txBody>
      </p:sp>
      <p:sp>
        <p:nvSpPr>
          <p:cNvPr id="3" name="TextBox 2">
            <a:extLst>
              <a:ext uri="{FF2B5EF4-FFF2-40B4-BE49-F238E27FC236}">
                <a16:creationId xmlns:a16="http://schemas.microsoft.com/office/drawing/2014/main" id="{BE5963D6-6355-B926-9D70-A9AA7D02652A}"/>
              </a:ext>
            </a:extLst>
          </p:cNvPr>
          <p:cNvSpPr txBox="1"/>
          <p:nvPr/>
        </p:nvSpPr>
        <p:spPr>
          <a:xfrm>
            <a:off x="583809" y="1171366"/>
            <a:ext cx="7772400" cy="2800767"/>
          </a:xfrm>
          <a:prstGeom prst="rect">
            <a:avLst/>
          </a:prstGeom>
          <a:noFill/>
        </p:spPr>
        <p:txBody>
          <a:bodyPr wrap="square" rtlCol="0">
            <a:spAutoFit/>
          </a:bodyPr>
          <a:lstStyle/>
          <a:p>
            <a:r>
              <a:rPr lang="en-US" sz="1600" dirty="0">
                <a:latin typeface="Nobile" panose="020B0604020202020204" charset="0"/>
              </a:rPr>
              <a:t>The proposed model can overcome these drawbacks by introducing a </a:t>
            </a:r>
            <a:r>
              <a:rPr lang="en-US" sz="1600" b="1" dirty="0">
                <a:latin typeface="Nobile" panose="020B0604020202020204" charset="0"/>
              </a:rPr>
              <a:t>Price Transparency and Fair Distribution System</a:t>
            </a:r>
            <a:r>
              <a:rPr lang="en-US" sz="1600" dirty="0">
                <a:latin typeface="Nobile" panose="020B0604020202020204" charset="0"/>
              </a:rPr>
              <a:t>. For every transaction, the platform can clearly display how the customer's total payment is divided among the farmer, delivery, packaging, platform, and other applicable charges. It can provide farmers with an earnings dashboard, customers with a "Where did my money go?" breakdown, and digital traceability to show the product's journey from farm to customer. The system can also use AI-based checks to identify unusual or unfair charges and smart logistics to reduce delivery costs and food wastage. This creates a more transparent, trustworthy, and fair farmer-to-customer system where both farmers and customers can clearly understand the value distribution.</a:t>
            </a:r>
          </a:p>
        </p:txBody>
      </p:sp>
      <p:sp>
        <p:nvSpPr>
          <p:cNvPr id="4" name="Rectangle 3">
            <a:extLst>
              <a:ext uri="{FF2B5EF4-FFF2-40B4-BE49-F238E27FC236}">
                <a16:creationId xmlns:a16="http://schemas.microsoft.com/office/drawing/2014/main" id="{414D1B11-1A02-8140-7AE1-F9FC5D9DCDD7}"/>
              </a:ext>
            </a:extLst>
          </p:cNvPr>
          <p:cNvSpPr/>
          <p:nvPr/>
        </p:nvSpPr>
        <p:spPr>
          <a:xfrm>
            <a:off x="7969348" y="4761914"/>
            <a:ext cx="1104314" cy="330591"/>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102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014338"/>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1B1B27"/>
                </a:solidFill>
                <a:latin typeface="Corben" pitchFamily="34" charset="0"/>
                <a:ea typeface="Corben" pitchFamily="34" charset="-122"/>
                <a:cs typeface="Corben" pitchFamily="34" charset="-120"/>
              </a:rPr>
              <a:t>AI &amp; Development Tools Used in the Project</a:t>
            </a:r>
            <a:endParaRPr lang="en-US" sz="2750" dirty="0"/>
          </a:p>
        </p:txBody>
      </p:sp>
      <p:sp>
        <p:nvSpPr>
          <p:cNvPr id="3" name="Text 1"/>
          <p:cNvSpPr/>
          <p:nvPr/>
        </p:nvSpPr>
        <p:spPr>
          <a:xfrm>
            <a:off x="496119" y="1740843"/>
            <a:ext cx="8151763" cy="2388245"/>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ChatGPT / Gemini Notebook → Generate project requirements, features, and use cases.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Jira → Generate user stories, tasks, and sprint plans for Farmer, Customer, and Admin modules.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Lucidchart AI → Generate the SOA/Microservices architecture diagram for Product, Order, Payment, Price Transparency, and Delivery services.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GitHub Copilot → Generate Spring Boot code, REST APIs, entities, services, and repositories.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Postman Agent Mode → Generate API requests and test cases for products, orders, pricing, and users.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Semgrep → Generate security analysis for the Spring Boot microservices and identify vulnerabilities.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GitHub Copilot → Generate JUnit unit tests for price calculation, orders, products, and other services.</a:t>
            </a:r>
            <a:endParaRPr lang="en-US" sz="1100" dirty="0"/>
          </a:p>
          <a:p>
            <a:pPr marL="223520" indent="-223520" algn="l">
              <a:lnSpc>
                <a:spcPct val="133000"/>
              </a:lnSpc>
              <a:buSzPct val="100000"/>
              <a:buChar char="•"/>
            </a:pPr>
            <a:r>
              <a:rPr lang="en-US" sz="1100" dirty="0">
                <a:solidFill>
                  <a:srgbClr val="404155"/>
                </a:solidFill>
                <a:latin typeface="Nobile" pitchFamily="34" charset="0"/>
                <a:ea typeface="Nobile" pitchFamily="34" charset="-122"/>
                <a:cs typeface="Nobile" pitchFamily="34" charset="-120"/>
              </a:rPr>
              <a:t>GitHub Actions → Generate CI/CD workflow to automatically build, test, and security-check the project.</a:t>
            </a:r>
            <a:endParaRPr lang="en-US" sz="1100" dirty="0"/>
          </a:p>
        </p:txBody>
      </p:sp>
      <p:sp>
        <p:nvSpPr>
          <p:cNvPr id="4" name="Rectangle 3">
            <a:extLst>
              <a:ext uri="{FF2B5EF4-FFF2-40B4-BE49-F238E27FC236}">
                <a16:creationId xmlns:a16="http://schemas.microsoft.com/office/drawing/2014/main" id="{CA8EC16E-E6E6-CAD7-D829-5C72D8014C31}"/>
              </a:ext>
            </a:extLst>
          </p:cNvPr>
          <p:cNvSpPr/>
          <p:nvPr/>
        </p:nvSpPr>
        <p:spPr>
          <a:xfrm>
            <a:off x="7941212" y="4754880"/>
            <a:ext cx="1202788" cy="388620"/>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2350219"/>
            <a:ext cx="8151763" cy="442987"/>
          </a:xfrm>
          <a:prstGeom prst="rect">
            <a:avLst/>
          </a:prstGeom>
          <a:noFill/>
          <a:ln/>
        </p:spPr>
        <p:txBody>
          <a:bodyPr wrap="none" lIns="0" tIns="0" rIns="0" bIns="0" rtlCol="0" anchor="t"/>
          <a:lstStyle/>
          <a:p>
            <a:pPr marL="0" indent="0" algn="ctr">
              <a:lnSpc>
                <a:spcPct val="104000"/>
              </a:lnSpc>
              <a:buNone/>
            </a:pPr>
            <a:r>
              <a:rPr lang="en-US" sz="2750" dirty="0">
                <a:solidFill>
                  <a:srgbClr val="1B1B27"/>
                </a:solidFill>
                <a:latin typeface="Corben" pitchFamily="34" charset="0"/>
                <a:ea typeface="Corben" pitchFamily="34" charset="-122"/>
                <a:cs typeface="Corben" pitchFamily="34" charset="-120"/>
              </a:rPr>
              <a:t>Thank You</a:t>
            </a:r>
            <a:endParaRPr lang="en-US" sz="2750" dirty="0"/>
          </a:p>
        </p:txBody>
      </p:sp>
      <p:sp>
        <p:nvSpPr>
          <p:cNvPr id="3" name="Rectangle 2">
            <a:extLst>
              <a:ext uri="{FF2B5EF4-FFF2-40B4-BE49-F238E27FC236}">
                <a16:creationId xmlns:a16="http://schemas.microsoft.com/office/drawing/2014/main" id="{32F4EE66-14DB-8F17-55AE-73AAA70F1134}"/>
              </a:ext>
            </a:extLst>
          </p:cNvPr>
          <p:cNvSpPr/>
          <p:nvPr/>
        </p:nvSpPr>
        <p:spPr>
          <a:xfrm>
            <a:off x="7920111" y="4719711"/>
            <a:ext cx="1223889" cy="365760"/>
          </a:xfrm>
          <a:prstGeom prst="rect">
            <a:avLst/>
          </a:prstGeom>
          <a:solidFill>
            <a:srgbClr val="F8F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957</Words>
  <Application>Microsoft Office PowerPoint</Application>
  <PresentationFormat>On-screen Show (16:9)</PresentationFormat>
  <Paragraphs>32</Paragraphs>
  <Slides>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Nobile</vt:lpstr>
      <vt:lpstr>Corbel</vt:lpstr>
      <vt:lpstr>Corben</vt:lpstr>
      <vt:lpstr>Nobile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poojitha.gaddempally@outlook.com</cp:lastModifiedBy>
  <cp:revision>2</cp:revision>
  <dcterms:created xsi:type="dcterms:W3CDTF">2026-08-08T03:15:18Z</dcterms:created>
  <dcterms:modified xsi:type="dcterms:W3CDTF">2026-08-27T03:55:05Z</dcterms:modified>
</cp:coreProperties>
</file>