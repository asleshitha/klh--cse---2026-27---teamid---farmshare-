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62" r:id="rId3"/>
    <p:sldId id="707" r:id="rId4"/>
    <p:sldId id="257" r:id="rId5"/>
    <p:sldId id="903" r:id="rId6"/>
    <p:sldId id="902" r:id="rId7"/>
    <p:sldId id="258" r:id="rId8"/>
    <p:sldId id="259" r:id="rId9"/>
    <p:sldId id="260" r:id="rId10"/>
    <p:sldId id="905" r:id="rId11"/>
    <p:sldId id="90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gaddempally@outlook.com" userId="06875100ddf83a31" providerId="LiveId" clId="{C3048804-7377-4EB7-B296-09A0EA42371C}"/>
    <pc:docChg chg="undo custSel addSld delSld modSld">
      <pc:chgData name="poojitha.gaddempally@outlook.com" userId="06875100ddf83a31" providerId="LiveId" clId="{C3048804-7377-4EB7-B296-09A0EA42371C}" dt="2026-10-01T09:30:04.519" v="602" actId="20577"/>
      <pc:docMkLst>
        <pc:docMk/>
      </pc:docMkLst>
      <pc:sldChg chg="modSp mod">
        <pc:chgData name="poojitha.gaddempally@outlook.com" userId="06875100ddf83a31" providerId="LiveId" clId="{C3048804-7377-4EB7-B296-09A0EA42371C}" dt="2026-10-01T09:30:04.519" v="602" actId="20577"/>
        <pc:sldMkLst>
          <pc:docMk/>
          <pc:sldMk cId="2247602601" sldId="262"/>
        </pc:sldMkLst>
        <pc:spChg chg="mod">
          <ac:chgData name="poojitha.gaddempally@outlook.com" userId="06875100ddf83a31" providerId="LiveId" clId="{C3048804-7377-4EB7-B296-09A0EA42371C}" dt="2026-10-01T08:35:34.562" v="594" actId="20577"/>
          <ac:spMkLst>
            <pc:docMk/>
            <pc:sldMk cId="2247602601" sldId="262"/>
            <ac:spMk id="16" creationId="{500C0830-A1CA-96AE-68D2-18C57ABE4802}"/>
          </ac:spMkLst>
        </pc:spChg>
        <pc:spChg chg="mod">
          <ac:chgData name="poojitha.gaddempally@outlook.com" userId="06875100ddf83a31" providerId="LiveId" clId="{C3048804-7377-4EB7-B296-09A0EA42371C}" dt="2026-10-01T08:35:44.096" v="596" actId="20577"/>
          <ac:spMkLst>
            <pc:docMk/>
            <pc:sldMk cId="2247602601" sldId="262"/>
            <ac:spMk id="17" creationId="{D25BC1A0-FDE4-1557-375E-6E0BD69BC77B}"/>
          </ac:spMkLst>
        </pc:spChg>
        <pc:graphicFrameChg chg="modGraphic">
          <ac:chgData name="poojitha.gaddempally@outlook.com" userId="06875100ddf83a31" providerId="LiveId" clId="{C3048804-7377-4EB7-B296-09A0EA42371C}" dt="2026-10-01T09:30:04.519" v="602" actId="20577"/>
          <ac:graphicFrameMkLst>
            <pc:docMk/>
            <pc:sldMk cId="2247602601" sldId="262"/>
            <ac:graphicFrameMk id="30" creationId="{9091FADF-77DB-CB1D-CD72-56C53CF7630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 October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 October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 October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 October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01.10.2026 </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71718381"/>
              </p:ext>
            </p:extLst>
          </p:nvPr>
        </p:nvGraphicFramePr>
        <p:xfrm>
          <a:off x="8193271" y="4898509"/>
          <a:ext cx="3702050" cy="7924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Poojitha - 2420030037</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M. Asleshitha - 2420030740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972199407"/>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Mr. Mahesh Kumar Thota</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kumimoji="0" lang="en-US" sz="28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rPr>
              <a:t>Price Transparency Framework for Farmer-to-Customer Food System</a:t>
            </a: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E500FF1C-4873-4639-45B9-0338A8E2ADC2}"/>
              </a:ext>
            </a:extLst>
          </p:cNvPr>
          <p:cNvSpPr txBox="1"/>
          <p:nvPr/>
        </p:nvSpPr>
        <p:spPr>
          <a:xfrm>
            <a:off x="1052052" y="1582993"/>
            <a:ext cx="10255045" cy="4272323"/>
          </a:xfrm>
          <a:prstGeom prst="rect">
            <a:avLst/>
          </a:prstGeom>
          <a:noFill/>
        </p:spPr>
        <p:txBody>
          <a:bodyPr wrap="square" rtlCol="0">
            <a:spAutoFit/>
          </a:bodyPr>
          <a:lstStyle/>
          <a:p>
            <a:pPr>
              <a:lnSpc>
                <a:spcPct val="133000"/>
              </a:lnSpc>
              <a:spcAft>
                <a:spcPts val="1250"/>
              </a:spcAft>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Farmer-to-customer food delivery platforms are designed to connect farmers directly with customers and help both sides benefit from the sale. However, in many cases, customers have to pay additional charges such as platform fees, packaging costs, delivery charges, and service fees. At the same time, farmers may receive only a small part of the total amount paid by the customer.</a:t>
            </a:r>
            <a:endParaRPr lang="en-US" dirty="0">
              <a:latin typeface="Times New Roman" panose="02020603050405020304" pitchFamily="18" charset="0"/>
              <a:cs typeface="Times New Roman" panose="02020603050405020304" pitchFamily="18" charset="0"/>
            </a:endParaRPr>
          </a:p>
          <a:p>
            <a:pPr>
              <a:lnSpc>
                <a:spcPct val="133000"/>
              </a:lnSpc>
            </a:pPr>
            <a:r>
              <a:rPr lang="en-US" dirty="0">
                <a:solidFill>
                  <a:srgbClr val="404155"/>
                </a:solidFill>
                <a:latin typeface="Times New Roman" panose="02020603050405020304" pitchFamily="18" charset="0"/>
                <a:ea typeface="Nobile" pitchFamily="34" charset="-122"/>
                <a:cs typeface="Times New Roman" panose="02020603050405020304" pitchFamily="18" charset="0"/>
              </a:rPr>
              <a:t>The main problem is that the </a:t>
            </a:r>
            <a:r>
              <a:rPr lang="en-US" b="1" dirty="0">
                <a:solidFill>
                  <a:srgbClr val="404155"/>
                </a:solidFill>
                <a:latin typeface="Times New Roman" panose="02020603050405020304" pitchFamily="18" charset="0"/>
                <a:ea typeface="Nobile Bold" pitchFamily="34" charset="-122"/>
                <a:cs typeface="Times New Roman" panose="02020603050405020304" pitchFamily="18" charset="0"/>
              </a:rPr>
              <a:t>complete flow of money is not clearly shown</a:t>
            </a:r>
            <a:r>
              <a:rPr lang="en-US" dirty="0">
                <a:solidFill>
                  <a:srgbClr val="404155"/>
                </a:solidFill>
                <a:latin typeface="Times New Roman" panose="02020603050405020304" pitchFamily="18" charset="0"/>
                <a:ea typeface="Nobile" pitchFamily="34" charset="-122"/>
                <a:cs typeface="Times New Roman" panose="02020603050405020304" pitchFamily="18" charset="0"/>
              </a:rPr>
              <a:t>. Customers may not know how much of their payment actually reaches the farmer, while farmers may not know how the final selling price is divided. This lack of transparency can create confusion and reduce trust in direct farm-to-customer platforms.</a:t>
            </a:r>
          </a:p>
          <a:p>
            <a:pPr>
              <a:lnSpc>
                <a:spcPct val="133000"/>
              </a:lnSpc>
            </a:pPr>
            <a:endParaRPr lang="en-US" dirty="0">
              <a:solidFill>
                <a:srgbClr val="404155"/>
              </a:solidFill>
              <a:latin typeface="Times New Roman" panose="02020603050405020304" pitchFamily="18" charset="0"/>
              <a:ea typeface="Nobile" pitchFamily="34" charset="-122"/>
              <a:cs typeface="Times New Roman" panose="02020603050405020304" pitchFamily="18" charset="0"/>
            </a:endParaRPr>
          </a:p>
          <a:p>
            <a:pPr>
              <a:lnSpc>
                <a:spcPct val="133000"/>
              </a:lnSpc>
            </a:pPr>
            <a:r>
              <a:rPr lang="en-US" dirty="0">
                <a:solidFill>
                  <a:srgbClr val="000000"/>
                </a:solidFill>
                <a:latin typeface="Times New Roman" panose="02020603050405020304" pitchFamily="18" charset="0"/>
                <a:ea typeface="Nobile" pitchFamily="34" charset="-122"/>
                <a:cs typeface="Times New Roman" panose="02020603050405020304" pitchFamily="18" charset="0"/>
              </a:rPr>
              <a:t>There is a need for a simple and transparent pricing system that clearly shows how the customer's payment is distributed among the farmer, delivery, packaging, and platform — building trust for all parties.</a:t>
            </a:r>
            <a:endParaRPr lang="en-US" dirty="0">
              <a:latin typeface="Times New Roman" panose="02020603050405020304" pitchFamily="18" charset="0"/>
              <a:cs typeface="Times New Roman" panose="02020603050405020304" pitchFamily="18" charset="0"/>
            </a:endParaRPr>
          </a:p>
          <a:p>
            <a:pPr>
              <a:lnSpc>
                <a:spcPct val="133000"/>
              </a:lnSpc>
            </a:pPr>
            <a:endParaRPr lang="en-US" dirty="0">
              <a:solidFill>
                <a:srgbClr val="404155"/>
              </a:solidFill>
              <a:latin typeface="Nobile" pitchFamily="34" charset="0"/>
            </a:endParaRP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851355" y="714975"/>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3E14411C-FAE5-5B0C-5CF3-D92D65371F80}"/>
              </a:ext>
            </a:extLst>
          </p:cNvPr>
          <p:cNvSpPr txBox="1"/>
          <p:nvPr/>
        </p:nvSpPr>
        <p:spPr>
          <a:xfrm>
            <a:off x="1263445" y="1851654"/>
            <a:ext cx="9842091" cy="2585323"/>
          </a:xfrm>
          <a:prstGeom prst="rect">
            <a:avLst/>
          </a:prstGeom>
          <a:noFill/>
        </p:spPr>
        <p:txBody>
          <a:bodyPr wrap="square" rtlCol="0">
            <a:spAutoFit/>
          </a:bodyPr>
          <a:lstStyle/>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Transparent Pricing – Show customers exactly how their payment is split across farmer, delivery, packaging, and platform.</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Fair Farmer Share – Ensure farmers receive a clear and fair portion of the total payment.</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 Trust – Build confidence by eliminating hidden charges and clarifying money flow.</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Simple Cost Breakdown – Provide easy‑to‑understand receipts or dashboards that highlight distribution.</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Equitable Trade – Balance benefits for both farmers and customers through fair practices.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Technology Integration – Use digital tools to guarantee accuracy and transparency in transactions.</a:t>
            </a:r>
          </a:p>
          <a:p>
            <a:pPr marL="285750" lvl="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938871334"/>
              </p:ext>
            </p:extLst>
          </p:nvPr>
        </p:nvGraphicFramePr>
        <p:xfrm>
          <a:off x="274646" y="689466"/>
          <a:ext cx="11642705" cy="531313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latin typeface="Times New Roman" panose="02020603050405020304" pitchFamily="18" charset="0"/>
                          <a:cs typeface="Times New Roman" panose="02020603050405020304" pitchFamily="18" charset="0"/>
                        </a:rPr>
                        <a:t>Mohammed </a:t>
                      </a:r>
                      <a:r>
                        <a:rPr lang="en-US" sz="1400" dirty="0" err="1">
                          <a:latin typeface="Times New Roman" panose="02020603050405020304" pitchFamily="18" charset="0"/>
                          <a:cs typeface="Times New Roman" panose="02020603050405020304" pitchFamily="18" charset="0"/>
                        </a:rPr>
                        <a:t>Fahaduddin</a:t>
                      </a:r>
                      <a:r>
                        <a:rPr lang="en-US" sz="1400" dirty="0">
                          <a:latin typeface="Times New Roman" panose="02020603050405020304" pitchFamily="18" charset="0"/>
                          <a:cs typeface="Times New Roman" panose="02020603050405020304" pitchFamily="18" charset="0"/>
                        </a:rPr>
                        <a:t>, Yeshwanth </a:t>
                      </a:r>
                      <a:r>
                        <a:rPr lang="en-US" sz="1400" dirty="0" err="1">
                          <a:latin typeface="Times New Roman" panose="02020603050405020304" pitchFamily="18" charset="0"/>
                          <a:cs typeface="Times New Roman" panose="02020603050405020304" pitchFamily="18" charset="0"/>
                        </a:rPr>
                        <a:t>Kotlur</a:t>
                      </a:r>
                      <a:r>
                        <a:rPr lang="en-US" sz="1400" dirty="0">
                          <a:latin typeface="Times New Roman" panose="02020603050405020304" pitchFamily="18" charset="0"/>
                          <a:cs typeface="Times New Roman" panose="02020603050405020304" pitchFamily="18" charset="0"/>
                        </a:rPr>
                        <a:t>, Asiya Muskan</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latin typeface="Times New Roman" panose="02020603050405020304" pitchFamily="18" charset="0"/>
                          <a:cs typeface="Times New Roman" panose="02020603050405020304" pitchFamily="18" charset="0"/>
                        </a:rPr>
                        <a:t>A Digital Platform Enabling Real-Time Price Discovery and Direct Market Access for Farmers</a:t>
                      </a:r>
                      <a:r>
                        <a:rPr lang="en-US" sz="1400" dirty="0">
                          <a:latin typeface="Times New Roman" panose="02020603050405020304" pitchFamily="18" charset="0"/>
                          <a:cs typeface="Times New Roman" panose="02020603050405020304" pitchFamily="18" charset="0"/>
                        </a:rPr>
                        <a:t> (IRJASH, 2026)</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Prototype digital platform tested with real-time mandi rates, MSP integration, and logistics support. Smartphone-based centralized system.</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Farmers gain better price awareness, reduced dependency on middlemen, and improved income realization.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Limited to prototype stage; future work should focus on scalability, multi-language support, and integration with national agricultural policies.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latin typeface="Times New Roman" panose="02020603050405020304" pitchFamily="18" charset="0"/>
                          <a:cs typeface="Times New Roman" panose="02020603050405020304" pitchFamily="18" charset="0"/>
                        </a:rPr>
                        <a:t>Prof. Chandan Wagh, Hanuman </a:t>
                      </a:r>
                      <a:r>
                        <a:rPr lang="en-US" sz="1400" dirty="0" err="1">
                          <a:latin typeface="Times New Roman" panose="02020603050405020304" pitchFamily="18" charset="0"/>
                          <a:cs typeface="Times New Roman" panose="02020603050405020304" pitchFamily="18" charset="0"/>
                        </a:rPr>
                        <a:t>Bavane</a:t>
                      </a:r>
                      <a:r>
                        <a:rPr lang="en-US" sz="1400" dirty="0">
                          <a:latin typeface="Times New Roman" panose="02020603050405020304" pitchFamily="18" charset="0"/>
                          <a:cs typeface="Times New Roman" panose="02020603050405020304" pitchFamily="18" charset="0"/>
                        </a:rPr>
                        <a:t>, Mayuri </a:t>
                      </a:r>
                      <a:r>
                        <a:rPr lang="en-US" sz="1400" dirty="0" err="1">
                          <a:latin typeface="Times New Roman" panose="02020603050405020304" pitchFamily="18" charset="0"/>
                          <a:cs typeface="Times New Roman" panose="02020603050405020304" pitchFamily="18" charset="0"/>
                        </a:rPr>
                        <a:t>Hirade</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latin typeface="Times New Roman" panose="02020603050405020304" pitchFamily="18" charset="0"/>
                          <a:cs typeface="Times New Roman" panose="02020603050405020304" pitchFamily="18" charset="0"/>
                        </a:rPr>
                        <a:t>Digital Farm Link: A Trust-Centric Marketplace Integrating AI, Blockchain, IoT, and Federated Learning for Transparent Farmer-to-Consumer Trade</a:t>
                      </a:r>
                      <a:r>
                        <a:rPr lang="en-US" sz="1400" dirty="0">
                          <a:latin typeface="Times New Roman" panose="02020603050405020304" pitchFamily="18" charset="0"/>
                          <a:cs typeface="Times New Roman" panose="02020603050405020304" pitchFamily="18" charset="0"/>
                        </a:rPr>
                        <a:t> (2026)</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Hybrid system combining AI forecasting, blockchain provenance, IoT quality verification, and explainable AI. Evaluated with experimental simulations.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Enhanced transparency, fair pricing, and consumer trust; improved forecasting accuracy and reduced post-harvest losses.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Still experimental; requires real-world deployment, testing across diverse farmer groups, and addressing data privacy challenges.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a:latin typeface="Times New Roman" panose="02020603050405020304" pitchFamily="18" charset="0"/>
                          <a:cs typeface="Times New Roman" panose="02020603050405020304" pitchFamily="18" charset="0"/>
                        </a:rPr>
                        <a:t>Mohd Tajammul, Shivam Singh, Atul </a:t>
                      </a:r>
                      <a:r>
                        <a:rPr lang="en-US" sz="1400" dirty="0" err="1">
                          <a:latin typeface="Times New Roman" panose="02020603050405020304" pitchFamily="18" charset="0"/>
                          <a:cs typeface="Times New Roman" panose="02020603050405020304" pitchFamily="18" charset="0"/>
                        </a:rPr>
                        <a:t>Kaintyura</a:t>
                      </a:r>
                      <a:r>
                        <a:rPr lang="en-US" sz="1400" dirty="0">
                          <a:latin typeface="Times New Roman" panose="02020603050405020304" pitchFamily="18" charset="0"/>
                          <a:cs typeface="Times New Roman" panose="02020603050405020304" pitchFamily="18" charset="0"/>
                        </a:rPr>
                        <a:t>, Babita Kumari, Rajat Tomar</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latin typeface="Times New Roman" panose="02020603050405020304" pitchFamily="18" charset="0"/>
                          <a:cs typeface="Times New Roman" panose="02020603050405020304" pitchFamily="18" charset="0"/>
                        </a:rPr>
                        <a:t>E-Commerce in Agriculture: A Review of Digital Marketplaces for Direct Farm-to-Consumer Trade</a:t>
                      </a:r>
                      <a:r>
                        <a:rPr lang="en-US" sz="1400" dirty="0">
                          <a:latin typeface="Times New Roman" panose="02020603050405020304" pitchFamily="18" charset="0"/>
                          <a:cs typeface="Times New Roman" panose="02020603050405020304" pitchFamily="18" charset="0"/>
                        </a:rPr>
                        <a:t> (IJERT, 2025)</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Literature review of global e-commerce platforms (India’s </a:t>
                      </a:r>
                      <a:r>
                        <a:rPr lang="en-US" sz="1400" dirty="0" err="1">
                          <a:latin typeface="Times New Roman" panose="02020603050405020304" pitchFamily="18" charset="0"/>
                          <a:cs typeface="Times New Roman" panose="02020603050405020304" pitchFamily="18" charset="0"/>
                        </a:rPr>
                        <a:t>eNAM</a:t>
                      </a:r>
                      <a:r>
                        <a:rPr lang="en-US" sz="1400" dirty="0">
                          <a:latin typeface="Times New Roman" panose="02020603050405020304" pitchFamily="18" charset="0"/>
                          <a:cs typeface="Times New Roman" panose="02020603050405020304" pitchFamily="18" charset="0"/>
                        </a:rPr>
                        <a:t>, China’s Pinduoduo). Comparative analysis of case studies.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Digital marketplaces improve transparency, minimize post-harvest losses, and expand farmer access to domestic and international markets.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Review-based; lacks empirical testing. Future work should include longitudinal studies and policy frameworks for rural adoption.</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703871" y="576297"/>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64508F15-321C-D91C-759B-AF2F22C70950}"/>
              </a:ext>
            </a:extLst>
          </p:cNvPr>
          <p:cNvSpPr txBox="1"/>
          <p:nvPr/>
        </p:nvSpPr>
        <p:spPr>
          <a:xfrm>
            <a:off x="560439" y="1415845"/>
            <a:ext cx="11100619" cy="5078313"/>
          </a:xfrm>
          <a:prstGeom prst="rect">
            <a:avLst/>
          </a:prstGeom>
          <a:noFill/>
        </p:spPr>
        <p:txBody>
          <a:bodyPr wrap="square" rtlCol="0">
            <a:spAutoFit/>
          </a:bodyPr>
          <a:lstStyle/>
          <a:p>
            <a:r>
              <a:rPr lang="en-US" b="1" dirty="0"/>
              <a:t>Lack of Price Transparency</a:t>
            </a:r>
            <a:endParaRPr lang="en-US" dirty="0"/>
          </a:p>
          <a:p>
            <a:pPr lvl="0"/>
            <a:r>
              <a:rPr lang="en-US" dirty="0"/>
              <a:t>Customers can see the final price but may not know how their payment is distributed. </a:t>
            </a:r>
          </a:p>
          <a:p>
            <a:pPr lvl="0"/>
            <a:r>
              <a:rPr lang="en-US" dirty="0"/>
              <a:t>Platform, packaging, delivery, and service charges may not be clearly separated. </a:t>
            </a:r>
          </a:p>
          <a:p>
            <a:r>
              <a:rPr lang="en-US" b="1" dirty="0"/>
              <a:t>Unclear Farmer Earnings</a:t>
            </a:r>
            <a:endParaRPr lang="en-US" dirty="0"/>
          </a:p>
          <a:p>
            <a:pPr lvl="0"/>
            <a:r>
              <a:rPr lang="en-US" dirty="0"/>
              <a:t>Farmers may not know how the final selling price of their products is calculated. </a:t>
            </a:r>
          </a:p>
          <a:p>
            <a:pPr lvl="0"/>
            <a:r>
              <a:rPr lang="en-US" dirty="0"/>
              <a:t>The actual share received by the farmer is not always clearly visible. </a:t>
            </a:r>
          </a:p>
          <a:p>
            <a:r>
              <a:rPr lang="en-US" b="1" dirty="0"/>
              <a:t>Multiple Intermediaries</a:t>
            </a:r>
            <a:endParaRPr lang="en-US" dirty="0"/>
          </a:p>
          <a:p>
            <a:pPr lvl="0"/>
            <a:r>
              <a:rPr lang="en-US" dirty="0"/>
              <a:t>Traditional agricultural supply chains involve wholesalers, distributors, and retailers. </a:t>
            </a:r>
          </a:p>
          <a:p>
            <a:pPr lvl="0"/>
            <a:r>
              <a:rPr lang="en-US" dirty="0"/>
              <a:t>Multiple intermediaries can increase customer prices and reduce the farmer's share. </a:t>
            </a:r>
          </a:p>
          <a:p>
            <a:r>
              <a:rPr lang="en-US" b="1" dirty="0"/>
              <a:t>Lack of Trust</a:t>
            </a:r>
            <a:endParaRPr lang="en-US" dirty="0"/>
          </a:p>
          <a:p>
            <a:pPr lvl="0"/>
            <a:r>
              <a:rPr lang="en-US" dirty="0"/>
              <a:t>Hidden or unclear charges can create confusion between farmers and customers. </a:t>
            </a:r>
          </a:p>
          <a:p>
            <a:pPr lvl="0"/>
            <a:r>
              <a:rPr lang="en-US" dirty="0"/>
              <a:t>Customers cannot easily determine whether the transaction is fair. </a:t>
            </a:r>
          </a:p>
          <a:p>
            <a:r>
              <a:rPr lang="en-US" b="1" dirty="0"/>
              <a:t> Existing Digital Platforms Focus Mainly on Market Access</a:t>
            </a:r>
            <a:endParaRPr lang="en-US" dirty="0"/>
          </a:p>
          <a:p>
            <a:pPr lvl="0"/>
            <a:r>
              <a:rPr lang="en-US" dirty="0"/>
              <a:t>Current platforms primarily connect farmers with customers. </a:t>
            </a:r>
          </a:p>
          <a:p>
            <a:pPr lvl="0"/>
            <a:r>
              <a:rPr lang="en-US" dirty="0"/>
              <a:t>Complete </a:t>
            </a:r>
            <a:r>
              <a:rPr lang="en-US" b="1" dirty="0"/>
              <a:t>money-flow transparency and fair distribution</a:t>
            </a:r>
            <a:r>
              <a:rPr lang="en-US" dirty="0"/>
              <a:t> are not sufficiently emphasized.</a:t>
            </a:r>
          </a:p>
          <a:p>
            <a:endParaRPr lang="en-US" dirty="0"/>
          </a:p>
          <a:p>
            <a:r>
              <a:rPr lang="en-US" dirty="0"/>
              <a:t>There is a need for an integrated system that not only connects farmers and customers but also transparently shows the complete flow of money and ensures fair value distribution.</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F7182528-7983-46FD-82AB-0EF6B6AE73FF}"/>
              </a:ext>
            </a:extLst>
          </p:cNvPr>
          <p:cNvSpPr txBox="1"/>
          <p:nvPr/>
        </p:nvSpPr>
        <p:spPr>
          <a:xfrm>
            <a:off x="619432" y="1425677"/>
            <a:ext cx="10933471" cy="5078313"/>
          </a:xfrm>
          <a:prstGeom prst="rect">
            <a:avLst/>
          </a:prstGeom>
          <a:noFill/>
        </p:spPr>
        <p:txBody>
          <a:bodyPr wrap="square" rtlCol="0">
            <a:spAutoFit/>
          </a:bodyPr>
          <a:lstStyle/>
          <a:p>
            <a:r>
              <a:rPr lang="en-US" b="1" dirty="0"/>
              <a:t>Price Transparency</a:t>
            </a:r>
            <a:endParaRPr lang="en-US" dirty="0"/>
          </a:p>
          <a:p>
            <a:pPr lvl="0"/>
            <a:r>
              <a:rPr lang="en-US" dirty="0"/>
              <a:t>Displays the customer's total payment and its distribution among:</a:t>
            </a:r>
            <a:br>
              <a:rPr lang="en-US" dirty="0"/>
            </a:br>
            <a:r>
              <a:rPr lang="en-US" b="1" dirty="0"/>
              <a:t>Farmer | Delivery | Packaging | Platform</a:t>
            </a:r>
            <a:r>
              <a:rPr lang="en-US" dirty="0"/>
              <a:t> </a:t>
            </a:r>
          </a:p>
          <a:p>
            <a:r>
              <a:rPr lang="en-US" b="1" dirty="0"/>
              <a:t>“Where Did My Money Go?”</a:t>
            </a:r>
            <a:endParaRPr lang="en-US" dirty="0"/>
          </a:p>
          <a:p>
            <a:pPr lvl="0"/>
            <a:r>
              <a:rPr lang="en-US" dirty="0"/>
              <a:t>Gives customers a simple breakdown of every component of their payment. </a:t>
            </a:r>
          </a:p>
          <a:p>
            <a:r>
              <a:rPr lang="en-US" b="1" dirty="0"/>
              <a:t>Farmer Earnings Dashboard</a:t>
            </a:r>
            <a:endParaRPr lang="en-US" dirty="0"/>
          </a:p>
          <a:p>
            <a:pPr lvl="0"/>
            <a:r>
              <a:rPr lang="en-US" dirty="0"/>
              <a:t>Allows farmers to monitor sales, earnings, and their share of the transaction. </a:t>
            </a:r>
          </a:p>
          <a:p>
            <a:r>
              <a:rPr lang="en-US" b="1" dirty="0"/>
              <a:t>Digital Product Traceability</a:t>
            </a:r>
            <a:endParaRPr lang="en-US" dirty="0"/>
          </a:p>
          <a:p>
            <a:pPr lvl="0"/>
            <a:r>
              <a:rPr lang="en-US" dirty="0"/>
              <a:t>Shows the journey of products from </a:t>
            </a:r>
            <a:r>
              <a:rPr lang="en-US" b="1" dirty="0"/>
              <a:t>farm to customer</a:t>
            </a:r>
            <a:r>
              <a:rPr lang="en-US" dirty="0"/>
              <a:t>. </a:t>
            </a:r>
          </a:p>
          <a:p>
            <a:r>
              <a:rPr lang="en-US" b="1" dirty="0"/>
              <a:t>AI-Based Fairness Checks</a:t>
            </a:r>
            <a:endParaRPr lang="en-US" dirty="0"/>
          </a:p>
          <a:p>
            <a:pPr lvl="0"/>
            <a:r>
              <a:rPr lang="en-US" dirty="0"/>
              <a:t>Identifies unusual or potentially unfair charges. </a:t>
            </a:r>
          </a:p>
          <a:p>
            <a:r>
              <a:rPr lang="en-US" b="1" dirty="0"/>
              <a:t>Smart Logistics</a:t>
            </a:r>
            <a:endParaRPr lang="en-US" dirty="0"/>
          </a:p>
          <a:p>
            <a:pPr lvl="0"/>
            <a:r>
              <a:rPr lang="en-US" dirty="0"/>
              <a:t>Helps reduce delivery costs and food wastage.</a:t>
            </a:r>
          </a:p>
          <a:p>
            <a:pPr lvl="0"/>
            <a:endParaRPr lang="en-US" dirty="0"/>
          </a:p>
          <a:p>
            <a:r>
              <a:rPr lang="en-US" b="1" dirty="0"/>
              <a:t>Novelty</a:t>
            </a:r>
          </a:p>
          <a:p>
            <a:r>
              <a:rPr lang="en-US" dirty="0"/>
              <a:t>The proposed system combines farmer-to-customer delivery with price transparency, fair distribution, digital traceability, AI-based checks, and smart logistics in a single framework.</a:t>
            </a:r>
          </a:p>
          <a:p>
            <a:endParaRPr lang="en-US"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2" y="53407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25882C91-88DA-0C78-6D33-BD94A0EFB7D6}"/>
              </a:ext>
            </a:extLst>
          </p:cNvPr>
          <p:cNvSpPr txBox="1"/>
          <p:nvPr/>
        </p:nvSpPr>
        <p:spPr>
          <a:xfrm>
            <a:off x="653845" y="1859339"/>
            <a:ext cx="5599472" cy="3139321"/>
          </a:xfrm>
          <a:prstGeom prst="rect">
            <a:avLst/>
          </a:prstGeom>
          <a:noFill/>
        </p:spPr>
        <p:txBody>
          <a:bodyPr wrap="square" rtlCol="0">
            <a:spAutoFit/>
          </a:bodyPr>
          <a:lstStyle/>
          <a:p>
            <a:r>
              <a:rPr lang="en-US" b="1" dirty="0"/>
              <a:t>Technical Feasibility</a:t>
            </a:r>
          </a:p>
          <a:p>
            <a:endParaRPr lang="en-US" b="1" dirty="0"/>
          </a:p>
          <a:p>
            <a:pPr lvl="0"/>
            <a:r>
              <a:rPr lang="en-US" b="1" dirty="0"/>
              <a:t>SOA / Microservices Architecture</a:t>
            </a:r>
            <a:r>
              <a:rPr lang="en-US" dirty="0"/>
              <a:t> </a:t>
            </a:r>
          </a:p>
          <a:p>
            <a:pPr lvl="0"/>
            <a:r>
              <a:rPr lang="en-US" dirty="0"/>
              <a:t>Product Service </a:t>
            </a:r>
          </a:p>
          <a:p>
            <a:pPr lvl="0"/>
            <a:r>
              <a:rPr lang="en-US" dirty="0"/>
              <a:t>Order Service </a:t>
            </a:r>
          </a:p>
          <a:p>
            <a:pPr lvl="0"/>
            <a:r>
              <a:rPr lang="en-US" dirty="0"/>
              <a:t>Payment Service </a:t>
            </a:r>
          </a:p>
          <a:p>
            <a:pPr lvl="0"/>
            <a:r>
              <a:rPr lang="en-US" dirty="0"/>
              <a:t>Price Transparency Service </a:t>
            </a:r>
          </a:p>
          <a:p>
            <a:pPr lvl="0"/>
            <a:r>
              <a:rPr lang="en-US" dirty="0"/>
              <a:t>Delivery Service </a:t>
            </a:r>
          </a:p>
          <a:p>
            <a:pPr lvl="0"/>
            <a:r>
              <a:rPr lang="en-US" dirty="0"/>
              <a:t>REST APIs for service interaction </a:t>
            </a:r>
          </a:p>
          <a:p>
            <a:pPr lvl="0"/>
            <a:r>
              <a:rPr lang="en-US" dirty="0"/>
              <a:t>Database for products, users, orders, and transactions</a:t>
            </a:r>
          </a:p>
          <a:p>
            <a:endParaRPr lang="en-US" dirty="0"/>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51FDC-62C9-D84D-D421-B54CB61888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944C63-EA13-AD97-9013-86C63FED1DCE}"/>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33B8C83F-B2AF-3942-09B2-C09F946142E0}"/>
              </a:ext>
            </a:extLst>
          </p:cNvPr>
          <p:cNvSpPr txBox="1"/>
          <p:nvPr/>
        </p:nvSpPr>
        <p:spPr>
          <a:xfrm>
            <a:off x="825911" y="1111045"/>
            <a:ext cx="3274142" cy="4801314"/>
          </a:xfrm>
          <a:prstGeom prst="rect">
            <a:avLst/>
          </a:prstGeom>
          <a:noFill/>
        </p:spPr>
        <p:txBody>
          <a:bodyPr wrap="square" rtlCol="0">
            <a:spAutoFit/>
          </a:bodyPr>
          <a:lstStyle/>
          <a:p>
            <a:r>
              <a:rPr lang="en-US" b="1" dirty="0"/>
              <a:t>Operational Feasibility</a:t>
            </a:r>
          </a:p>
          <a:p>
            <a:endParaRPr lang="en-US" b="1" dirty="0"/>
          </a:p>
          <a:p>
            <a:r>
              <a:rPr lang="en-US" b="1" dirty="0"/>
              <a:t>Farmer</a:t>
            </a:r>
            <a:endParaRPr lang="en-US" dirty="0"/>
          </a:p>
          <a:p>
            <a:pPr lvl="0"/>
            <a:r>
              <a:rPr lang="en-US" dirty="0"/>
              <a:t>Add/manage products </a:t>
            </a:r>
          </a:p>
          <a:p>
            <a:pPr lvl="0"/>
            <a:r>
              <a:rPr lang="en-US" dirty="0"/>
              <a:t>View orders </a:t>
            </a:r>
          </a:p>
          <a:p>
            <a:pPr lvl="0"/>
            <a:r>
              <a:rPr lang="en-US" dirty="0"/>
              <a:t>Track earnings </a:t>
            </a:r>
          </a:p>
          <a:p>
            <a:r>
              <a:rPr lang="en-US" b="1" dirty="0"/>
              <a:t>Customer</a:t>
            </a:r>
            <a:endParaRPr lang="en-US" dirty="0"/>
          </a:p>
          <a:p>
            <a:pPr lvl="0"/>
            <a:r>
              <a:rPr lang="en-US" dirty="0"/>
              <a:t>Browse products </a:t>
            </a:r>
          </a:p>
          <a:p>
            <a:pPr lvl="0"/>
            <a:r>
              <a:rPr lang="en-US" dirty="0"/>
              <a:t>Place orders </a:t>
            </a:r>
          </a:p>
          <a:p>
            <a:pPr lvl="0"/>
            <a:r>
              <a:rPr lang="en-US" dirty="0"/>
              <a:t>View complete price breakdown </a:t>
            </a:r>
          </a:p>
          <a:p>
            <a:pPr lvl="0"/>
            <a:r>
              <a:rPr lang="en-US" dirty="0"/>
              <a:t>Track delivery </a:t>
            </a:r>
          </a:p>
          <a:p>
            <a:r>
              <a:rPr lang="en-US" b="1" dirty="0"/>
              <a:t>Admin</a:t>
            </a:r>
            <a:endParaRPr lang="en-US" dirty="0"/>
          </a:p>
          <a:p>
            <a:pPr lvl="0"/>
            <a:r>
              <a:rPr lang="en-US" dirty="0"/>
              <a:t>Monitor transactions </a:t>
            </a:r>
          </a:p>
          <a:p>
            <a:pPr lvl="0"/>
            <a:r>
              <a:rPr lang="en-US" dirty="0"/>
              <a:t>Manage platform activities </a:t>
            </a:r>
          </a:p>
          <a:p>
            <a:pPr lvl="0"/>
            <a:r>
              <a:rPr lang="en-US" dirty="0"/>
              <a:t>Check pricing transparency</a:t>
            </a:r>
          </a:p>
          <a:p>
            <a:endParaRPr lang="en-US" dirty="0"/>
          </a:p>
        </p:txBody>
      </p:sp>
    </p:spTree>
    <p:extLst>
      <p:ext uri="{BB962C8B-B14F-4D97-AF65-F5344CB8AC3E}">
        <p14:creationId xmlns:p14="http://schemas.microsoft.com/office/powerpoint/2010/main" val="900360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B6B3A2-6B18-9061-863A-0AE7594F9B8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E9FE1D11-2C6C-F0D0-EE0F-1DC2630F77F6}"/>
              </a:ext>
            </a:extLst>
          </p:cNvPr>
          <p:cNvSpPr txBox="1"/>
          <p:nvPr/>
        </p:nvSpPr>
        <p:spPr>
          <a:xfrm>
            <a:off x="806245" y="1052051"/>
            <a:ext cx="9822426" cy="4524315"/>
          </a:xfrm>
          <a:prstGeom prst="rect">
            <a:avLst/>
          </a:prstGeom>
          <a:noFill/>
        </p:spPr>
        <p:txBody>
          <a:bodyPr wrap="square" rtlCol="0">
            <a:spAutoFit/>
          </a:bodyPr>
          <a:lstStyle/>
          <a:p>
            <a:r>
              <a:rPr lang="en-US" b="1" dirty="0"/>
              <a:t>Project Timeline</a:t>
            </a:r>
          </a:p>
          <a:p>
            <a:endParaRPr lang="en-US" b="1" dirty="0"/>
          </a:p>
          <a:p>
            <a:r>
              <a:rPr lang="en-US" b="1" dirty="0"/>
              <a:t>Phase 1:</a:t>
            </a:r>
            <a:r>
              <a:rPr lang="en-US" dirty="0"/>
              <a:t> Requirement Analysis &amp; Literature Survey</a:t>
            </a:r>
            <a:br>
              <a:rPr lang="en-US" dirty="0"/>
            </a:br>
            <a:r>
              <a:rPr lang="en-US" dirty="0"/>
              <a:t>↓</a:t>
            </a:r>
            <a:br>
              <a:rPr lang="en-US" dirty="0"/>
            </a:br>
            <a:r>
              <a:rPr lang="en-US" b="1" dirty="0"/>
              <a:t>Phase 2:</a:t>
            </a:r>
            <a:r>
              <a:rPr lang="en-US" dirty="0"/>
              <a:t> SOA/Microservices Architecture Design</a:t>
            </a:r>
            <a:br>
              <a:rPr lang="en-US" dirty="0"/>
            </a:br>
            <a:r>
              <a:rPr lang="en-US" dirty="0"/>
              <a:t>↓</a:t>
            </a:r>
            <a:br>
              <a:rPr lang="en-US" dirty="0"/>
            </a:br>
            <a:r>
              <a:rPr lang="en-US" b="1" dirty="0"/>
              <a:t>Phase 3:</a:t>
            </a:r>
            <a:r>
              <a:rPr lang="en-US" dirty="0"/>
              <a:t> Product &amp; Farmer Services</a:t>
            </a:r>
            <a:br>
              <a:rPr lang="en-US" dirty="0"/>
            </a:br>
            <a:r>
              <a:rPr lang="en-US" dirty="0"/>
              <a:t>↓</a:t>
            </a:r>
            <a:br>
              <a:rPr lang="en-US" dirty="0"/>
            </a:br>
            <a:r>
              <a:rPr lang="en-US" b="1" dirty="0"/>
              <a:t>Phase 4:</a:t>
            </a:r>
            <a:r>
              <a:rPr lang="en-US" dirty="0"/>
              <a:t> Order &amp; Payment Services</a:t>
            </a:r>
            <a:br>
              <a:rPr lang="en-US" dirty="0"/>
            </a:br>
            <a:r>
              <a:rPr lang="en-US" dirty="0"/>
              <a:t>↓</a:t>
            </a:r>
            <a:br>
              <a:rPr lang="en-US" dirty="0"/>
            </a:br>
            <a:r>
              <a:rPr lang="en-US" b="1" dirty="0"/>
              <a:t>Phase 5:</a:t>
            </a:r>
            <a:r>
              <a:rPr lang="en-US" dirty="0"/>
              <a:t> Price Transparency &amp; Delivery Services</a:t>
            </a:r>
            <a:br>
              <a:rPr lang="en-US" dirty="0"/>
            </a:br>
            <a:r>
              <a:rPr lang="en-US" dirty="0"/>
              <a:t>↓</a:t>
            </a:r>
            <a:br>
              <a:rPr lang="en-US" dirty="0"/>
            </a:br>
            <a:r>
              <a:rPr lang="en-US" b="1" dirty="0"/>
              <a:t>Phase 6:</a:t>
            </a:r>
            <a:r>
              <a:rPr lang="en-US" dirty="0"/>
              <a:t> Integration, Testing &amp; Security</a:t>
            </a:r>
            <a:br>
              <a:rPr lang="en-US" dirty="0"/>
            </a:br>
            <a:r>
              <a:rPr lang="en-US" dirty="0"/>
              <a:t>↓</a:t>
            </a:r>
            <a:br>
              <a:rPr lang="en-US" dirty="0"/>
            </a:br>
            <a:r>
              <a:rPr lang="en-US" b="1" dirty="0"/>
              <a:t>Phase 7:</a:t>
            </a:r>
            <a:r>
              <a:rPr lang="en-US" dirty="0"/>
              <a:t> CI/CD &amp; Deployment</a:t>
            </a:r>
          </a:p>
          <a:p>
            <a:endParaRPr lang="en-US" dirty="0"/>
          </a:p>
        </p:txBody>
      </p:sp>
    </p:spTree>
    <p:extLst>
      <p:ext uri="{BB962C8B-B14F-4D97-AF65-F5344CB8AC3E}">
        <p14:creationId xmlns:p14="http://schemas.microsoft.com/office/powerpoint/2010/main" val="3316719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1059</Words>
  <Application>Microsoft Office PowerPoint</Application>
  <PresentationFormat>Widescreen</PresentationFormat>
  <Paragraphs>138</Paragraphs>
  <Slides>10</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Aptos</vt:lpstr>
      <vt:lpstr>Aptos Display</vt:lpstr>
      <vt:lpstr>Arial</vt:lpstr>
      <vt:lpstr>Calibri</vt:lpstr>
      <vt:lpstr>Calibri Light</vt:lpstr>
      <vt:lpstr>Nobile</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poojitha.gaddempally@outlook.com</cp:lastModifiedBy>
  <cp:revision>32</cp:revision>
  <dcterms:created xsi:type="dcterms:W3CDTF">2026-08-08T06:33:56Z</dcterms:created>
  <dcterms:modified xsi:type="dcterms:W3CDTF">2026-10-01T09:30:11Z</dcterms:modified>
</cp:coreProperties>
</file>